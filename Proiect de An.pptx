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4BAE4-534C-481A-9D15-D386E2ED10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ro-RO" sz="1800" dirty="0"/>
              <a:t>Elaborat</a:t>
            </a:r>
            <a:r>
              <a:rPr lang="en-US" sz="1800" dirty="0"/>
              <a:t>: </a:t>
            </a:r>
            <a:r>
              <a:rPr lang="ro-RO" sz="1800" dirty="0"/>
              <a:t>Țăranu Vladislav TI-203</a:t>
            </a:r>
            <a:br>
              <a:rPr lang="ro-RO" sz="1800" dirty="0"/>
            </a:br>
            <a:r>
              <a:rPr lang="ro-RO" sz="1800" dirty="0"/>
              <a:t>Verificat</a:t>
            </a:r>
            <a:r>
              <a:rPr lang="en-US" sz="1800" dirty="0"/>
              <a:t>: Mihai </a:t>
            </a:r>
            <a:r>
              <a:rPr lang="en-US" sz="1800" dirty="0" err="1"/>
              <a:t>Gaidau</a:t>
            </a:r>
            <a:endParaRPr lang="ru-MD" sz="1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1A120F-5D04-4E25-8895-474AA68E9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2274" y="1606858"/>
            <a:ext cx="5357600" cy="1822141"/>
          </a:xfrm>
        </p:spPr>
        <p:txBody>
          <a:bodyPr>
            <a:normAutofit/>
          </a:bodyPr>
          <a:lstStyle/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An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Disciplina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și Mecanisme de Proiectare Software</a:t>
            </a:r>
            <a:endParaRPr lang="ru-M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207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7C79A-1E35-43B9-82B2-BADD5D3BC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Singleton Pattern</a:t>
            </a:r>
            <a:endParaRPr lang="ru-MD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7D6DB2-B178-40C0-9271-30428E269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945" y="1524523"/>
            <a:ext cx="7796540" cy="3997828"/>
          </a:xfrm>
        </p:spPr>
        <p:txBody>
          <a:bodyPr/>
          <a:lstStyle/>
          <a:p>
            <a:r>
              <a:rPr lang="en-US" dirty="0"/>
              <a:t>Singleton </a:t>
            </a:r>
            <a:r>
              <a:rPr lang="en-US" dirty="0" err="1"/>
              <a:t>este</a:t>
            </a:r>
            <a:r>
              <a:rPr lang="en-US" dirty="0"/>
              <a:t> un model de design </a:t>
            </a:r>
            <a:r>
              <a:rPr lang="en-US" dirty="0" err="1"/>
              <a:t>creativ</a:t>
            </a:r>
            <a:r>
              <a:rPr lang="en-US" dirty="0"/>
              <a:t> care </a:t>
            </a:r>
            <a:r>
              <a:rPr lang="en-US" dirty="0" err="1"/>
              <a:t>vă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vă</a:t>
            </a:r>
            <a:r>
              <a:rPr lang="en-US" dirty="0"/>
              <a:t> </a:t>
            </a:r>
            <a:r>
              <a:rPr lang="en-US" dirty="0" err="1"/>
              <a:t>asigurați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o </a:t>
            </a:r>
            <a:r>
              <a:rPr lang="en-US" dirty="0" err="1"/>
              <a:t>clasă</a:t>
            </a:r>
            <a:r>
              <a:rPr lang="en-US" dirty="0"/>
              <a:t> are o </a:t>
            </a:r>
            <a:r>
              <a:rPr lang="en-US" dirty="0" err="1"/>
              <a:t>singură</a:t>
            </a:r>
            <a:r>
              <a:rPr lang="en-US" dirty="0"/>
              <a:t> </a:t>
            </a:r>
            <a:r>
              <a:rPr lang="en-US" dirty="0" err="1"/>
              <a:t>instanță</a:t>
            </a:r>
            <a:r>
              <a:rPr lang="en-US" dirty="0"/>
              <a:t>, </a:t>
            </a:r>
            <a:r>
              <a:rPr lang="en-US" dirty="0" err="1"/>
              <a:t>oferind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același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un </a:t>
            </a:r>
            <a:r>
              <a:rPr lang="en-US" dirty="0" err="1"/>
              <a:t>punct</a:t>
            </a:r>
            <a:r>
              <a:rPr lang="en-US" dirty="0"/>
              <a:t> de </a:t>
            </a:r>
            <a:r>
              <a:rPr lang="en-US" dirty="0" err="1"/>
              <a:t>acces</a:t>
            </a:r>
            <a:r>
              <a:rPr lang="en-US" dirty="0"/>
              <a:t> global la </a:t>
            </a:r>
            <a:r>
              <a:rPr lang="en-US" dirty="0" err="1"/>
              <a:t>această</a:t>
            </a:r>
            <a:r>
              <a:rPr lang="en-US" dirty="0"/>
              <a:t> </a:t>
            </a:r>
            <a:r>
              <a:rPr lang="en-US" dirty="0" err="1"/>
              <a:t>instanță</a:t>
            </a:r>
            <a:r>
              <a:rPr lang="en-US" dirty="0"/>
              <a:t>.</a:t>
            </a:r>
          </a:p>
          <a:p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Această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instanță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creată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momentul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încărcării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clasei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poate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fi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accesată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prin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metoda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statică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`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getInstance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()`.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Această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instanță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folosită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înregistra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mesaje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în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acest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sistem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MD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MD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24C83A-5B50-4145-8DD8-8653BFB1A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445" y="4056351"/>
            <a:ext cx="4641311" cy="227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68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05DF6-F3E7-4E01-84D2-099677258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599" y="737035"/>
            <a:ext cx="7958331" cy="1077229"/>
          </a:xfrm>
        </p:spPr>
        <p:txBody>
          <a:bodyPr/>
          <a:lstStyle/>
          <a:p>
            <a:pPr algn="ctr"/>
            <a:r>
              <a:rPr lang="en-US" sz="32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Factory</a:t>
            </a:r>
            <a:r>
              <a:rPr lang="en-US" sz="3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Pattern</a:t>
            </a:r>
            <a:endParaRPr lang="ru-MD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56702E-3D76-443E-8AB6-6E25A46D4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0" y="1688132"/>
            <a:ext cx="7796540" cy="3997828"/>
          </a:xfrm>
        </p:spPr>
        <p:txBody>
          <a:bodyPr>
            <a:normAutofit/>
          </a:bodyPr>
          <a:lstStyle/>
          <a:p>
            <a:r>
              <a:rPr lang="en-US" sz="1600" dirty="0" err="1"/>
              <a:t>Metoda</a:t>
            </a:r>
            <a:r>
              <a:rPr lang="en-US" sz="1600" dirty="0"/>
              <a:t> Factory </a:t>
            </a:r>
            <a:r>
              <a:rPr lang="en-US" sz="1600" dirty="0" err="1"/>
              <a:t>este</a:t>
            </a:r>
            <a:r>
              <a:rPr lang="en-US" sz="1600" dirty="0"/>
              <a:t> un model de design </a:t>
            </a:r>
            <a:r>
              <a:rPr lang="en-US" sz="1600" dirty="0" err="1"/>
              <a:t>creativ</a:t>
            </a:r>
            <a:r>
              <a:rPr lang="en-US" sz="1600" dirty="0"/>
              <a:t> care </a:t>
            </a:r>
            <a:r>
              <a:rPr lang="en-US" sz="1600" dirty="0" err="1"/>
              <a:t>oferă</a:t>
            </a:r>
            <a:r>
              <a:rPr lang="en-US" sz="1600" dirty="0"/>
              <a:t> o </a:t>
            </a:r>
            <a:r>
              <a:rPr lang="en-US" sz="1600" dirty="0" err="1"/>
              <a:t>interfață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crearea</a:t>
            </a:r>
            <a:r>
              <a:rPr lang="en-US" sz="1600" dirty="0"/>
              <a:t> </a:t>
            </a:r>
            <a:r>
              <a:rPr lang="en-US" sz="1600" dirty="0" err="1"/>
              <a:t>obiectelor</a:t>
            </a:r>
            <a:r>
              <a:rPr lang="en-US" sz="1600" dirty="0"/>
              <a:t> </a:t>
            </a:r>
            <a:r>
              <a:rPr lang="en-US" sz="1600" dirty="0" err="1"/>
              <a:t>într</a:t>
            </a:r>
            <a:r>
              <a:rPr lang="en-US" sz="1600" dirty="0"/>
              <a:t>-o </a:t>
            </a:r>
            <a:r>
              <a:rPr lang="en-US" sz="1600" dirty="0" err="1"/>
              <a:t>superclasă</a:t>
            </a:r>
            <a:r>
              <a:rPr lang="en-US" sz="1600" dirty="0"/>
              <a:t>, </a:t>
            </a:r>
            <a:r>
              <a:rPr lang="en-US" sz="1600" dirty="0" err="1"/>
              <a:t>dar</a:t>
            </a:r>
            <a:r>
              <a:rPr lang="en-US" sz="1600" dirty="0"/>
              <a:t> </a:t>
            </a:r>
            <a:r>
              <a:rPr lang="en-US" sz="1600" dirty="0" err="1"/>
              <a:t>permite</a:t>
            </a:r>
            <a:r>
              <a:rPr lang="en-US" sz="1600" dirty="0"/>
              <a:t> </a:t>
            </a:r>
            <a:r>
              <a:rPr lang="en-US" sz="1600" dirty="0" err="1"/>
              <a:t>subclaselor</a:t>
            </a:r>
            <a:r>
              <a:rPr lang="en-US" sz="1600" dirty="0"/>
              <a:t>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modifice</a:t>
            </a:r>
            <a:r>
              <a:rPr lang="en-US" sz="1600" dirty="0"/>
              <a:t> </a:t>
            </a:r>
            <a:r>
              <a:rPr lang="en-US" sz="1600" dirty="0" err="1"/>
              <a:t>tipul</a:t>
            </a:r>
            <a:r>
              <a:rPr lang="en-US" sz="1600" dirty="0"/>
              <a:t> de </a:t>
            </a:r>
            <a:r>
              <a:rPr lang="en-US" sz="1600" dirty="0" err="1"/>
              <a:t>obiecte</a:t>
            </a:r>
            <a:r>
              <a:rPr lang="en-US" sz="1600" dirty="0"/>
              <a:t> care </a:t>
            </a:r>
            <a:r>
              <a:rPr lang="en-US" sz="1600" dirty="0" err="1"/>
              <a:t>vor</a:t>
            </a:r>
            <a:r>
              <a:rPr lang="en-US" sz="1600" dirty="0"/>
              <a:t> fi create.</a:t>
            </a:r>
          </a:p>
          <a:p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`Factory` Pattern - `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SensorFactory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`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o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interfață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cu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metodele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`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createMotionSensor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()`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`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createSmokeSensor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()`.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Clasa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`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FactoryX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`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implementează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`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SensorFactory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`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suprascrie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metodele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sale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crea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senzori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specifici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Acest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pattern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folosit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crea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obiecte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fără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expune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logica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creare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obiectului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către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client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a se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referi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noul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obiect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creat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folosind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o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interfață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comună</a:t>
            </a:r>
            <a:r>
              <a:rPr lang="en-US" sz="16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MD" sz="16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266491-2F1B-4236-ACB9-807E880E642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011" y="3866226"/>
            <a:ext cx="5440680" cy="28727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2046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611D00-97A3-4E0B-B2E1-E67874D27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435" y="239885"/>
            <a:ext cx="7958331" cy="107722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effectLst/>
                <a:ea typeface="Calibri" panose="020F0502020204030204" pitchFamily="34" charset="0"/>
              </a:rPr>
              <a:t>Adapter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3600" dirty="0">
                <a:effectLst/>
                <a:ea typeface="Calibri" panose="020F0502020204030204" pitchFamily="34" charset="0"/>
              </a:rPr>
              <a:t>Pattern</a:t>
            </a:r>
            <a:endParaRPr lang="ru-MD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D5E7AB-D1E4-473A-AAE3-A2F085737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265" y="1203040"/>
            <a:ext cx="7796540" cy="3997828"/>
          </a:xfrm>
        </p:spPr>
        <p:txBody>
          <a:bodyPr>
            <a:normAutofit/>
          </a:bodyPr>
          <a:lstStyle/>
          <a:p>
            <a:r>
              <a:rPr lang="en-US" sz="1800" dirty="0" err="1"/>
              <a:t>Adaptorul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un model de </a:t>
            </a:r>
            <a:r>
              <a:rPr lang="en-US" sz="1800" dirty="0" err="1"/>
              <a:t>proiectare</a:t>
            </a:r>
            <a:r>
              <a:rPr lang="en-US" sz="1800" dirty="0"/>
              <a:t> </a:t>
            </a:r>
            <a:r>
              <a:rPr lang="en-US" sz="1800" dirty="0" err="1"/>
              <a:t>structurală</a:t>
            </a:r>
            <a:r>
              <a:rPr lang="en-US" sz="1800" dirty="0"/>
              <a:t> care </a:t>
            </a:r>
            <a:r>
              <a:rPr lang="en-US" sz="1800" dirty="0" err="1"/>
              <a:t>permite</a:t>
            </a:r>
            <a:r>
              <a:rPr lang="en-US" sz="1800" dirty="0"/>
              <a:t> </a:t>
            </a:r>
            <a:r>
              <a:rPr lang="en-US" sz="1800" dirty="0" err="1"/>
              <a:t>obiectelor</a:t>
            </a:r>
            <a:r>
              <a:rPr lang="en-US" sz="1800" dirty="0"/>
              <a:t> cu </a:t>
            </a:r>
            <a:r>
              <a:rPr lang="en-US" sz="1800" dirty="0" err="1"/>
              <a:t>interfețe</a:t>
            </a:r>
            <a:r>
              <a:rPr lang="en-US" sz="1800" dirty="0"/>
              <a:t> </a:t>
            </a:r>
            <a:r>
              <a:rPr lang="en-US" sz="1800" dirty="0" err="1"/>
              <a:t>incompatibile</a:t>
            </a:r>
            <a:r>
              <a:rPr lang="en-US" sz="1800" dirty="0"/>
              <a:t> </a:t>
            </a:r>
            <a:r>
              <a:rPr lang="en-US" sz="1800" dirty="0" err="1"/>
              <a:t>să</a:t>
            </a:r>
            <a:r>
              <a:rPr lang="en-US" sz="1800" dirty="0"/>
              <a:t> </a:t>
            </a:r>
            <a:r>
              <a:rPr lang="en-US" sz="1800" dirty="0" err="1"/>
              <a:t>colaboreze</a:t>
            </a:r>
            <a:r>
              <a:rPr lang="en-US" sz="1800" dirty="0"/>
              <a:t>.</a:t>
            </a:r>
          </a:p>
          <a:p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`Adapter` Pattern -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Interfața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`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Sms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`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declară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o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metodă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`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sendMessage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()`. `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MotionSmsAdapter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`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și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`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SmokeSmsAdapter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`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implementează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această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interfață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pentru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a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adapta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clasele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`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MotionSms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`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și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`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SmokeSms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`,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respectiv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.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Adaptorul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primește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un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apel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la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metoda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`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sendMessage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()`, traduce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acel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apel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la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metoda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corespunzătoare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în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clasa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`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MotionSms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` 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sau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 `</a:t>
            </a:r>
            <a:r>
              <a:rPr lang="en-US" sz="1800" dirty="0" err="1">
                <a:effectLst/>
                <a:latin typeface="+mj-lt"/>
                <a:ea typeface="Calibri" panose="020F0502020204030204" pitchFamily="34" charset="0"/>
              </a:rPr>
              <a:t>SmokeSms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</a:rPr>
              <a:t>`.</a:t>
            </a:r>
            <a:endParaRPr lang="en-US" sz="1800" dirty="0">
              <a:latin typeface="+mj-lt"/>
            </a:endParaRPr>
          </a:p>
          <a:p>
            <a:endParaRPr lang="en-US" sz="1800" dirty="0"/>
          </a:p>
          <a:p>
            <a:endParaRPr lang="en-US" sz="1800" dirty="0"/>
          </a:p>
          <a:p>
            <a:endParaRPr lang="ru-MD" sz="1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114997-1388-40CB-B76B-1FDAFBD80B6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911" y="3562531"/>
            <a:ext cx="4897404" cy="303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9935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E688F0-1FFC-4E8B-9207-38864588F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701" y="0"/>
            <a:ext cx="7958331" cy="1077229"/>
          </a:xfrm>
        </p:spPr>
        <p:txBody>
          <a:bodyPr/>
          <a:lstStyle/>
          <a:p>
            <a:pPr algn="ctr"/>
            <a:r>
              <a:rPr lang="en-US" dirty="0"/>
              <a:t>Command Pattern</a:t>
            </a:r>
            <a:endParaRPr lang="ru-MD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2BE006-5D7B-4474-963E-4DA8F5246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619" y="-88068"/>
            <a:ext cx="7796540" cy="3997828"/>
          </a:xfrm>
        </p:spPr>
        <p:txBody>
          <a:bodyPr>
            <a:normAutofit/>
          </a:bodyPr>
          <a:lstStyle/>
          <a:p>
            <a:r>
              <a:rPr lang="en-US" sz="1400" dirty="0" err="1"/>
              <a:t>Comanda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un model de </a:t>
            </a:r>
            <a:r>
              <a:rPr lang="en-US" sz="1400" dirty="0" err="1"/>
              <a:t>proiectare</a:t>
            </a:r>
            <a:r>
              <a:rPr lang="en-US" sz="1400" dirty="0"/>
              <a:t> </a:t>
            </a:r>
            <a:r>
              <a:rPr lang="en-US" sz="1400" dirty="0" err="1"/>
              <a:t>comportamentală</a:t>
            </a:r>
            <a:r>
              <a:rPr lang="en-US" sz="1400" dirty="0"/>
              <a:t> care </a:t>
            </a:r>
            <a:r>
              <a:rPr lang="en-US" sz="1400" dirty="0" err="1"/>
              <a:t>transformă</a:t>
            </a:r>
            <a:r>
              <a:rPr lang="en-US" sz="1400" dirty="0"/>
              <a:t> o </a:t>
            </a:r>
            <a:r>
              <a:rPr lang="en-US" sz="1400" dirty="0" err="1"/>
              <a:t>cerere</a:t>
            </a:r>
            <a:r>
              <a:rPr lang="en-US" sz="1400" dirty="0"/>
              <a:t> </a:t>
            </a:r>
            <a:r>
              <a:rPr lang="en-US" sz="1400" dirty="0" err="1"/>
              <a:t>într</a:t>
            </a:r>
            <a:r>
              <a:rPr lang="en-US" sz="1400" dirty="0"/>
              <a:t>-un </a:t>
            </a:r>
            <a:r>
              <a:rPr lang="en-US" sz="1400" dirty="0" err="1"/>
              <a:t>obiect</a:t>
            </a:r>
            <a:r>
              <a:rPr lang="en-US" sz="1400" dirty="0"/>
              <a:t> independent care </a:t>
            </a:r>
            <a:r>
              <a:rPr lang="en-US" sz="1400" dirty="0" err="1"/>
              <a:t>conține</a:t>
            </a:r>
            <a:r>
              <a:rPr lang="en-US" sz="1400" dirty="0"/>
              <a:t> </a:t>
            </a:r>
            <a:r>
              <a:rPr lang="en-US" sz="1400" dirty="0" err="1"/>
              <a:t>toate</a:t>
            </a:r>
            <a:r>
              <a:rPr lang="en-US" sz="1400" dirty="0"/>
              <a:t> </a:t>
            </a:r>
            <a:r>
              <a:rPr lang="en-US" sz="1400" dirty="0" err="1"/>
              <a:t>informațiile</a:t>
            </a:r>
            <a:r>
              <a:rPr lang="en-US" sz="1400" dirty="0"/>
              <a:t> </a:t>
            </a:r>
            <a:r>
              <a:rPr lang="en-US" sz="1400" dirty="0" err="1"/>
              <a:t>despre</a:t>
            </a:r>
            <a:r>
              <a:rPr lang="en-US" sz="1400" dirty="0"/>
              <a:t> </a:t>
            </a:r>
            <a:r>
              <a:rPr lang="en-US" sz="1400" dirty="0" err="1"/>
              <a:t>cerere</a:t>
            </a:r>
            <a:r>
              <a:rPr lang="en-US" sz="1400" dirty="0"/>
              <a:t>. </a:t>
            </a:r>
            <a:r>
              <a:rPr lang="en-US" sz="1400" dirty="0" err="1"/>
              <a:t>Această</a:t>
            </a:r>
            <a:r>
              <a:rPr lang="en-US" sz="1400" dirty="0"/>
              <a:t> </a:t>
            </a:r>
            <a:r>
              <a:rPr lang="en-US" sz="1400" dirty="0" err="1"/>
              <a:t>transformare</a:t>
            </a:r>
            <a:r>
              <a:rPr lang="en-US" sz="1400" dirty="0"/>
              <a:t> </a:t>
            </a:r>
            <a:r>
              <a:rPr lang="en-US" sz="1400" dirty="0" err="1"/>
              <a:t>vă</a:t>
            </a:r>
            <a:r>
              <a:rPr lang="en-US" sz="1400" dirty="0"/>
              <a:t> </a:t>
            </a:r>
            <a:r>
              <a:rPr lang="en-US" sz="1400" dirty="0" err="1"/>
              <a:t>permite</a:t>
            </a:r>
            <a:r>
              <a:rPr lang="en-US" sz="1400" dirty="0"/>
              <a:t> </a:t>
            </a:r>
            <a:r>
              <a:rPr lang="en-US" sz="1400" dirty="0" err="1"/>
              <a:t>să</a:t>
            </a:r>
            <a:r>
              <a:rPr lang="en-US" sz="1400" dirty="0"/>
              <a:t> </a:t>
            </a:r>
            <a:r>
              <a:rPr lang="en-US" sz="1400" dirty="0" err="1"/>
              <a:t>treci</a:t>
            </a:r>
            <a:r>
              <a:rPr lang="en-US" sz="1400" dirty="0"/>
              <a:t> </a:t>
            </a:r>
            <a:r>
              <a:rPr lang="en-US" sz="1400" dirty="0" err="1"/>
              <a:t>cereri</a:t>
            </a:r>
            <a:r>
              <a:rPr lang="en-US" sz="1400" dirty="0"/>
              <a:t> ca o </a:t>
            </a:r>
            <a:r>
              <a:rPr lang="en-US" sz="1400" dirty="0" err="1"/>
              <a:t>metodă</a:t>
            </a:r>
            <a:r>
              <a:rPr lang="en-US" sz="1400" dirty="0"/>
              <a:t> </a:t>
            </a:r>
            <a:r>
              <a:rPr lang="en-US" sz="1400" dirty="0" err="1"/>
              <a:t>argumente</a:t>
            </a:r>
            <a:r>
              <a:rPr lang="en-US" sz="1400" dirty="0"/>
              <a:t>, </a:t>
            </a:r>
            <a:r>
              <a:rPr lang="en-US" sz="1400" dirty="0" err="1"/>
              <a:t>întârziere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</a:t>
            </a:r>
            <a:r>
              <a:rPr lang="en-US" sz="1400" dirty="0" err="1"/>
              <a:t>coadă</a:t>
            </a:r>
            <a:r>
              <a:rPr lang="en-US" sz="1400" dirty="0"/>
              <a:t> </a:t>
            </a:r>
            <a:r>
              <a:rPr lang="en-US" sz="1400" dirty="0" err="1"/>
              <a:t>executarea</a:t>
            </a:r>
            <a:r>
              <a:rPr lang="en-US" sz="1400" dirty="0"/>
              <a:t> </a:t>
            </a:r>
            <a:r>
              <a:rPr lang="en-US" sz="1400" dirty="0" err="1"/>
              <a:t>unei</a:t>
            </a:r>
            <a:r>
              <a:rPr lang="en-US" sz="1400" dirty="0"/>
              <a:t> </a:t>
            </a:r>
            <a:r>
              <a:rPr lang="en-US" sz="1400" dirty="0" err="1"/>
              <a:t>cereri</a:t>
            </a:r>
            <a:r>
              <a:rPr lang="en-US" sz="1400" dirty="0"/>
              <a:t>,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să</a:t>
            </a:r>
            <a:r>
              <a:rPr lang="en-US" sz="1400" dirty="0"/>
              <a:t> </a:t>
            </a:r>
            <a:r>
              <a:rPr lang="en-US" sz="1400" dirty="0" err="1"/>
              <a:t>sprijine</a:t>
            </a:r>
            <a:r>
              <a:rPr lang="en-US" sz="1400" dirty="0"/>
              <a:t> </a:t>
            </a:r>
            <a:r>
              <a:rPr lang="en-US" sz="1400" dirty="0" err="1"/>
              <a:t>operațiunile</a:t>
            </a:r>
            <a:r>
              <a:rPr lang="en-US" sz="1400" dirty="0"/>
              <a:t> </a:t>
            </a:r>
            <a:r>
              <a:rPr lang="en-US" sz="1400" dirty="0" err="1"/>
              <a:t>nedecontabile</a:t>
            </a:r>
            <a:endParaRPr lang="en-US" sz="1400" dirty="0"/>
          </a:p>
          <a:p>
            <a:r>
              <a:rPr lang="en-US" sz="1400" dirty="0">
                <a:effectLst/>
                <a:ea typeface="Calibri" panose="020F0502020204030204" pitchFamily="34" charset="0"/>
              </a:rPr>
              <a:t>`Command` Pattern -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Interfața</a:t>
            </a:r>
            <a:r>
              <a:rPr lang="en-US" sz="1400" dirty="0">
                <a:effectLst/>
                <a:ea typeface="Calibri" panose="020F0502020204030204" pitchFamily="34" charset="0"/>
              </a:rPr>
              <a:t> `Command`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declară</a:t>
            </a:r>
            <a:r>
              <a:rPr lang="en-US" sz="1400" dirty="0">
                <a:effectLst/>
                <a:ea typeface="Calibri" panose="020F0502020204030204" pitchFamily="34" charset="0"/>
              </a:rPr>
              <a:t> o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metodă</a:t>
            </a:r>
            <a:r>
              <a:rPr lang="en-US" sz="1400" dirty="0">
                <a:effectLst/>
                <a:ea typeface="Calibri" panose="020F0502020204030204" pitchFamily="34" charset="0"/>
              </a:rPr>
              <a:t> `execute()`.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Diferite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clase</a:t>
            </a:r>
            <a:r>
              <a:rPr lang="en-US" sz="1400" dirty="0">
                <a:effectLst/>
                <a:ea typeface="Calibri" panose="020F0502020204030204" pitchFamily="34" charset="0"/>
              </a:rPr>
              <a:t> de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comenzi</a:t>
            </a:r>
            <a:r>
              <a:rPr lang="en-US" sz="1400" dirty="0">
                <a:effectLst/>
                <a:ea typeface="Calibri" panose="020F0502020204030204" pitchFamily="34" charset="0"/>
              </a:rPr>
              <a:t>, cum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ar</a:t>
            </a:r>
            <a:r>
              <a:rPr lang="en-US" sz="1400" dirty="0">
                <a:effectLst/>
                <a:ea typeface="Calibri" panose="020F0502020204030204" pitchFamily="34" charset="0"/>
              </a:rPr>
              <a:t> fi `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StartAlarmCommand</a:t>
            </a:r>
            <a:r>
              <a:rPr lang="en-US" sz="1400" dirty="0">
                <a:effectLst/>
                <a:ea typeface="Calibri" panose="020F0502020204030204" pitchFamily="34" charset="0"/>
              </a:rPr>
              <a:t>`, `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StopAlarmCommand</a:t>
            </a:r>
            <a:r>
              <a:rPr lang="en-US" sz="1400" dirty="0">
                <a:effectLst/>
                <a:ea typeface="Calibri" panose="020F0502020204030204" pitchFamily="34" charset="0"/>
              </a:rPr>
              <a:t>`, `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TurnOffSprinklerCommand</a:t>
            </a:r>
            <a:r>
              <a:rPr lang="en-US" sz="1400" dirty="0">
                <a:effectLst/>
                <a:ea typeface="Calibri" panose="020F0502020204030204" pitchFamily="34" charset="0"/>
              </a:rPr>
              <a:t>`,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implementează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această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interfață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și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suprascriu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metoda</a:t>
            </a:r>
            <a:r>
              <a:rPr lang="en-US" sz="1400" dirty="0">
                <a:effectLst/>
                <a:ea typeface="Calibri" panose="020F0502020204030204" pitchFamily="34" charset="0"/>
              </a:rPr>
              <a:t> `execute()`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pentru</a:t>
            </a:r>
            <a:r>
              <a:rPr lang="en-US" sz="1400" dirty="0">
                <a:effectLst/>
                <a:ea typeface="Calibri" panose="020F0502020204030204" pitchFamily="34" charset="0"/>
              </a:rPr>
              <a:t> a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efectua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acțiuni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specifice</a:t>
            </a:r>
            <a:r>
              <a:rPr lang="en-US" sz="1400" dirty="0">
                <a:effectLst/>
                <a:ea typeface="Calibri" panose="020F0502020204030204" pitchFamily="34" charset="0"/>
              </a:rPr>
              <a:t>.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Clasa</a:t>
            </a:r>
            <a:r>
              <a:rPr lang="en-US" sz="1400" dirty="0">
                <a:effectLst/>
                <a:ea typeface="Calibri" panose="020F0502020204030204" pitchFamily="34" charset="0"/>
              </a:rPr>
              <a:t> `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HomeSecurityRemote</a:t>
            </a:r>
            <a:r>
              <a:rPr lang="en-US" sz="1400" dirty="0">
                <a:effectLst/>
                <a:ea typeface="Calibri" panose="020F0502020204030204" pitchFamily="34" charset="0"/>
              </a:rPr>
              <a:t>`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reprezintă</a:t>
            </a:r>
            <a:r>
              <a:rPr lang="en-US" sz="1400" dirty="0">
                <a:effectLst/>
                <a:ea typeface="Calibri" panose="020F0502020204030204" pitchFamily="34" charset="0"/>
              </a:rPr>
              <a:t> o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telecomandă</a:t>
            </a:r>
            <a:r>
              <a:rPr lang="en-US" sz="1400" dirty="0">
                <a:effectLst/>
                <a:ea typeface="Calibri" panose="020F0502020204030204" pitchFamily="34" charset="0"/>
              </a:rPr>
              <a:t> cu un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buton</a:t>
            </a:r>
            <a:r>
              <a:rPr lang="en-US" sz="1400" dirty="0">
                <a:effectLst/>
                <a:ea typeface="Calibri" panose="020F0502020204030204" pitchFamily="34" charset="0"/>
              </a:rPr>
              <a:t> care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poate</a:t>
            </a:r>
            <a:r>
              <a:rPr lang="en-US" sz="1400" dirty="0">
                <a:effectLst/>
                <a:ea typeface="Calibri" panose="020F0502020204030204" pitchFamily="34" charset="0"/>
              </a:rPr>
              <a:t> fi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asociat</a:t>
            </a:r>
            <a:r>
              <a:rPr lang="en-US" sz="1400" dirty="0">
                <a:effectLst/>
                <a:ea typeface="Calibri" panose="020F0502020204030204" pitchFamily="34" charset="0"/>
              </a:rPr>
              <a:t> cu o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comandă</a:t>
            </a:r>
            <a:r>
              <a:rPr lang="en-US" sz="1400" dirty="0">
                <a:effectLst/>
                <a:ea typeface="Calibri" panose="020F0502020204030204" pitchFamily="34" charset="0"/>
              </a:rPr>
              <a:t>,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executând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acea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comandă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atunci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când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butonul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este</a:t>
            </a:r>
            <a:r>
              <a:rPr lang="en-US" sz="1400" dirty="0">
                <a:effectLst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ea typeface="Calibri" panose="020F0502020204030204" pitchFamily="34" charset="0"/>
              </a:rPr>
              <a:t>apăsat</a:t>
            </a:r>
            <a:r>
              <a:rPr lang="en-US" sz="1400" dirty="0">
                <a:effectLst/>
                <a:ea typeface="Calibri" panose="020F0502020204030204" pitchFamily="34" charset="0"/>
              </a:rPr>
              <a:t>.</a:t>
            </a:r>
            <a:endParaRPr lang="ru-MD" sz="1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77A1B7-F679-485D-A6EA-EDE665FD82F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223" y="3071008"/>
            <a:ext cx="6200497" cy="36879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519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474619-4699-428A-9D5F-A0214CBF4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186" y="0"/>
            <a:ext cx="7958331" cy="1077229"/>
          </a:xfrm>
        </p:spPr>
        <p:txBody>
          <a:bodyPr/>
          <a:lstStyle/>
          <a:p>
            <a:pPr algn="ctr"/>
            <a:r>
              <a:rPr lang="en-US" dirty="0"/>
              <a:t>Observer Pattern</a:t>
            </a:r>
            <a:endParaRPr lang="ru-MD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068023-7103-4CD2-B7FB-1A119E2B6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274" y="-140668"/>
            <a:ext cx="7796540" cy="3997828"/>
          </a:xfrm>
        </p:spPr>
        <p:txBody>
          <a:bodyPr>
            <a:normAutofit/>
          </a:bodyPr>
          <a:lstStyle/>
          <a:p>
            <a:r>
              <a:rPr lang="en-US" sz="1600" dirty="0"/>
              <a:t>Observer </a:t>
            </a:r>
            <a:r>
              <a:rPr lang="en-US" sz="1600" dirty="0" err="1"/>
              <a:t>este</a:t>
            </a:r>
            <a:r>
              <a:rPr lang="en-US" sz="1600" dirty="0"/>
              <a:t> un model de design </a:t>
            </a:r>
            <a:r>
              <a:rPr lang="en-US" sz="1600" dirty="0" err="1"/>
              <a:t>comportamental</a:t>
            </a:r>
            <a:r>
              <a:rPr lang="en-US" sz="1600" dirty="0"/>
              <a:t> care </a:t>
            </a:r>
            <a:r>
              <a:rPr lang="en-US" sz="1600" dirty="0" err="1"/>
              <a:t>vă</a:t>
            </a:r>
            <a:r>
              <a:rPr lang="en-US" sz="1600" dirty="0"/>
              <a:t> </a:t>
            </a:r>
            <a:r>
              <a:rPr lang="en-US" sz="1600" dirty="0" err="1"/>
              <a:t>permite</a:t>
            </a:r>
            <a:r>
              <a:rPr lang="en-US" sz="1600" dirty="0"/>
              <a:t>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definiți</a:t>
            </a:r>
            <a:r>
              <a:rPr lang="en-US" sz="1600" dirty="0"/>
              <a:t> un </a:t>
            </a:r>
            <a:r>
              <a:rPr lang="en-US" sz="1600" dirty="0" err="1"/>
              <a:t>mecanism</a:t>
            </a:r>
            <a:r>
              <a:rPr lang="en-US" sz="1600" dirty="0"/>
              <a:t> de </a:t>
            </a:r>
            <a:r>
              <a:rPr lang="en-US" sz="1600" dirty="0" err="1"/>
              <a:t>abonament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a </a:t>
            </a:r>
            <a:r>
              <a:rPr lang="en-US" sz="1600" dirty="0" err="1"/>
              <a:t>notifica</a:t>
            </a:r>
            <a:r>
              <a:rPr lang="en-US" sz="1600" dirty="0"/>
              <a:t> </a:t>
            </a:r>
            <a:r>
              <a:rPr lang="en-US" sz="1600" dirty="0" err="1"/>
              <a:t>mai</a:t>
            </a:r>
            <a:r>
              <a:rPr lang="en-US" sz="1600" dirty="0"/>
              <a:t> </a:t>
            </a:r>
            <a:r>
              <a:rPr lang="en-US" sz="1600" dirty="0" err="1"/>
              <a:t>multe</a:t>
            </a:r>
            <a:r>
              <a:rPr lang="en-US" sz="1600" dirty="0"/>
              <a:t> </a:t>
            </a:r>
            <a:r>
              <a:rPr lang="en-US" sz="1600" dirty="0" err="1"/>
              <a:t>obiecte</a:t>
            </a:r>
            <a:r>
              <a:rPr lang="en-US" sz="1600" dirty="0"/>
              <a:t> </a:t>
            </a:r>
            <a:r>
              <a:rPr lang="en-US" sz="1600" dirty="0" err="1"/>
              <a:t>despre</a:t>
            </a:r>
            <a:r>
              <a:rPr lang="en-US" sz="1600" dirty="0"/>
              <a:t> </a:t>
            </a:r>
            <a:r>
              <a:rPr lang="en-US" sz="1600" dirty="0" err="1"/>
              <a:t>orice</a:t>
            </a:r>
            <a:r>
              <a:rPr lang="en-US" sz="1600" dirty="0"/>
              <a:t> </a:t>
            </a:r>
            <a:r>
              <a:rPr lang="en-US" sz="1600" dirty="0" err="1"/>
              <a:t>evenimente</a:t>
            </a:r>
            <a:r>
              <a:rPr lang="en-US" sz="1600" dirty="0"/>
              <a:t> care se </a:t>
            </a:r>
            <a:r>
              <a:rPr lang="en-US" sz="1600" dirty="0" err="1"/>
              <a:t>întâmplă</a:t>
            </a:r>
            <a:r>
              <a:rPr lang="en-US" sz="1600" dirty="0"/>
              <a:t> cu </a:t>
            </a:r>
            <a:r>
              <a:rPr lang="en-US" sz="1600" dirty="0" err="1"/>
              <a:t>obiectul</a:t>
            </a:r>
            <a:r>
              <a:rPr lang="en-US" sz="1600" dirty="0"/>
              <a:t> pe care </a:t>
            </a:r>
            <a:r>
              <a:rPr lang="en-US" sz="1600" dirty="0" err="1"/>
              <a:t>îl</a:t>
            </a:r>
            <a:r>
              <a:rPr lang="en-US" sz="1600" dirty="0"/>
              <a:t> </a:t>
            </a:r>
            <a:r>
              <a:rPr lang="en-US" sz="1600" dirty="0" err="1"/>
              <a:t>observă</a:t>
            </a:r>
            <a:r>
              <a:rPr lang="en-US" sz="1600" dirty="0"/>
              <a:t>.</a:t>
            </a:r>
          </a:p>
          <a:p>
            <a:r>
              <a:rPr lang="en-US" sz="1600" dirty="0">
                <a:effectLst/>
                <a:ea typeface="Calibri" panose="020F0502020204030204" pitchFamily="34" charset="0"/>
              </a:rPr>
              <a:t>`Observer` Pattern -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Clasa</a:t>
            </a:r>
            <a:r>
              <a:rPr lang="en-US" sz="1600" dirty="0">
                <a:effectLst/>
                <a:ea typeface="Calibri" panose="020F0502020204030204" pitchFamily="34" charset="0"/>
              </a:rPr>
              <a:t> `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SensorSystem</a:t>
            </a:r>
            <a:r>
              <a:rPr lang="en-US" sz="1600" dirty="0">
                <a:effectLst/>
                <a:ea typeface="Calibri" panose="020F0502020204030204" pitchFamily="34" charset="0"/>
              </a:rPr>
              <a:t>`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menține</a:t>
            </a:r>
            <a:r>
              <a:rPr lang="en-US" sz="1600" dirty="0">
                <a:effectLst/>
                <a:ea typeface="Calibri" panose="020F0502020204030204" pitchFamily="34" charset="0"/>
              </a:rPr>
              <a:t> o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listă</a:t>
            </a:r>
            <a:r>
              <a:rPr lang="en-US" sz="1600" dirty="0">
                <a:effectLst/>
                <a:ea typeface="Calibri" panose="020F0502020204030204" pitchFamily="34" charset="0"/>
              </a:rPr>
              <a:t> de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obiecte</a:t>
            </a:r>
            <a:r>
              <a:rPr lang="en-US" sz="1600" dirty="0">
                <a:effectLst/>
                <a:ea typeface="Calibri" panose="020F0502020204030204" pitchFamily="34" charset="0"/>
              </a:rPr>
              <a:t> `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SensorListener</a:t>
            </a:r>
            <a:r>
              <a:rPr lang="en-US" sz="1600" dirty="0">
                <a:effectLst/>
                <a:ea typeface="Calibri" panose="020F0502020204030204" pitchFamily="34" charset="0"/>
              </a:rPr>
              <a:t>`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și</a:t>
            </a:r>
            <a:r>
              <a:rPr lang="en-US" sz="1600" dirty="0">
                <a:effectLst/>
                <a:ea typeface="Calibri" panose="020F0502020204030204" pitchFamily="34" charset="0"/>
              </a:rPr>
              <a:t> le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notifică</a:t>
            </a:r>
            <a:r>
              <a:rPr lang="en-US" sz="1600" dirty="0"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atunci</a:t>
            </a:r>
            <a:r>
              <a:rPr lang="en-US" sz="1600" dirty="0"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când</a:t>
            </a:r>
            <a:r>
              <a:rPr lang="en-US" sz="1600" dirty="0"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vrea</a:t>
            </a:r>
            <a:r>
              <a:rPr lang="en-US" sz="1600" dirty="0"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să</a:t>
            </a:r>
            <a:r>
              <a:rPr lang="en-US" sz="1600" dirty="0"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alerteze</a:t>
            </a:r>
            <a:r>
              <a:rPr lang="en-US" sz="1600" dirty="0"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sistemul</a:t>
            </a:r>
            <a:r>
              <a:rPr lang="en-US" sz="1600" dirty="0">
                <a:effectLst/>
                <a:ea typeface="Calibri" panose="020F0502020204030204" pitchFamily="34" charset="0"/>
              </a:rPr>
              <a:t> (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în</a:t>
            </a:r>
            <a:r>
              <a:rPr lang="en-US" sz="1600" dirty="0"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acest</a:t>
            </a:r>
            <a:r>
              <a:rPr lang="en-US" sz="1600" dirty="0"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caz</a:t>
            </a:r>
            <a:r>
              <a:rPr lang="en-US" sz="1600" dirty="0">
                <a:effectLst/>
                <a:ea typeface="Calibri" panose="020F0502020204030204" pitchFamily="34" charset="0"/>
              </a:rPr>
              <a:t>,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metoda</a:t>
            </a:r>
            <a:r>
              <a:rPr lang="en-US" sz="1600" dirty="0">
                <a:effectLst/>
                <a:ea typeface="Calibri" panose="020F0502020204030204" pitchFamily="34" charset="0"/>
              </a:rPr>
              <a:t> `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notifyUser</a:t>
            </a:r>
            <a:r>
              <a:rPr lang="en-US" sz="1600" dirty="0">
                <a:effectLst/>
                <a:ea typeface="Calibri" panose="020F0502020204030204" pitchFamily="34" charset="0"/>
              </a:rPr>
              <a:t>()`).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Clasele</a:t>
            </a:r>
            <a:r>
              <a:rPr lang="en-US" sz="1600" dirty="0">
                <a:effectLst/>
                <a:ea typeface="Calibri" panose="020F0502020204030204" pitchFamily="34" charset="0"/>
              </a:rPr>
              <a:t> `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XMotionSensor</a:t>
            </a:r>
            <a:r>
              <a:rPr lang="en-US" sz="1600" dirty="0">
                <a:effectLst/>
                <a:ea typeface="Calibri" panose="020F0502020204030204" pitchFamily="34" charset="0"/>
              </a:rPr>
              <a:t>`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și</a:t>
            </a:r>
            <a:r>
              <a:rPr lang="en-US" sz="1600" dirty="0">
                <a:effectLst/>
                <a:ea typeface="Calibri" panose="020F0502020204030204" pitchFamily="34" charset="0"/>
              </a:rPr>
              <a:t> `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XSmokeSensor</a:t>
            </a:r>
            <a:r>
              <a:rPr lang="en-US" sz="1600" dirty="0">
                <a:effectLst/>
                <a:ea typeface="Calibri" panose="020F0502020204030204" pitchFamily="34" charset="0"/>
              </a:rPr>
              <a:t>`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implementează</a:t>
            </a:r>
            <a:r>
              <a:rPr lang="en-US" sz="1600" dirty="0"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interfața</a:t>
            </a:r>
            <a:r>
              <a:rPr lang="en-US" sz="1600" dirty="0">
                <a:effectLst/>
                <a:ea typeface="Calibri" panose="020F0502020204030204" pitchFamily="34" charset="0"/>
              </a:rPr>
              <a:t> `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SensorListener</a:t>
            </a:r>
            <a:r>
              <a:rPr lang="en-US" sz="1600" dirty="0">
                <a:effectLst/>
                <a:ea typeface="Calibri" panose="020F0502020204030204" pitchFamily="34" charset="0"/>
              </a:rPr>
              <a:t>`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și</a:t>
            </a:r>
            <a:r>
              <a:rPr lang="en-US" sz="1600" dirty="0"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suprascriu</a:t>
            </a:r>
            <a:r>
              <a:rPr lang="en-US" sz="1600" dirty="0"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metoda</a:t>
            </a:r>
            <a:r>
              <a:rPr lang="en-US" sz="1600" dirty="0">
                <a:effectLst/>
                <a:ea typeface="Calibri" panose="020F0502020204030204" pitchFamily="34" charset="0"/>
              </a:rPr>
              <a:t> `detected()`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pentru</a:t>
            </a:r>
            <a:r>
              <a:rPr lang="en-US" sz="1600" dirty="0">
                <a:effectLst/>
                <a:ea typeface="Calibri" panose="020F0502020204030204" pitchFamily="34" charset="0"/>
              </a:rPr>
              <a:t> a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acționa</a:t>
            </a:r>
            <a:r>
              <a:rPr lang="en-US" sz="1600" dirty="0"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atunci</a:t>
            </a:r>
            <a:r>
              <a:rPr lang="en-US" sz="1600" dirty="0">
                <a:effectLst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când</a:t>
            </a:r>
            <a:r>
              <a:rPr lang="en-US" sz="1600" dirty="0">
                <a:effectLst/>
                <a:ea typeface="Calibri" panose="020F0502020204030204" pitchFamily="34" charset="0"/>
              </a:rPr>
              <a:t> sunt </a:t>
            </a:r>
            <a:r>
              <a:rPr lang="en-US" sz="1600" dirty="0" err="1">
                <a:effectLst/>
                <a:ea typeface="Calibri" panose="020F0502020204030204" pitchFamily="34" charset="0"/>
              </a:rPr>
              <a:t>notificate</a:t>
            </a:r>
            <a:r>
              <a:rPr lang="en-US" sz="1600" dirty="0">
                <a:effectLst/>
                <a:ea typeface="Calibri" panose="020F0502020204030204" pitchFamily="34" charset="0"/>
              </a:rPr>
              <a:t>.</a:t>
            </a:r>
            <a:endParaRPr lang="ru-MD" sz="1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CE3103-FDDA-4285-9925-491EB1677A0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68" y="3373178"/>
            <a:ext cx="7076963" cy="29263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31610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{E7AFA33A-EE23-4ACD-A2CB-B7561B439036}tf16401375</Template>
  <TotalTime>23</TotalTime>
  <Words>492</Words>
  <Application>Microsoft Office PowerPoint</Application>
  <PresentationFormat>Широкоэкранный</PresentationFormat>
  <Paragraphs>23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MS Shell Dlg 2</vt:lpstr>
      <vt:lpstr>Times New Roman</vt:lpstr>
      <vt:lpstr>Wingdings</vt:lpstr>
      <vt:lpstr>Wingdings 3</vt:lpstr>
      <vt:lpstr>Мэдисон</vt:lpstr>
      <vt:lpstr>   Elaborat: Țăranu Vladislav TI-203 Verificat: Mihai Gaidau</vt:lpstr>
      <vt:lpstr>Singleton Pattern</vt:lpstr>
      <vt:lpstr>Factory Pattern</vt:lpstr>
      <vt:lpstr>Adapter Pattern</vt:lpstr>
      <vt:lpstr>Command Pattern</vt:lpstr>
      <vt:lpstr>Observer Pattern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Elaborat: Țăranu Vladislav TI-203 Verificat: Mihai Gaidau</dc:title>
  <dc:creator>Taranu Vlad</dc:creator>
  <cp:lastModifiedBy>Taranu Vlad</cp:lastModifiedBy>
  <cp:revision>3</cp:revision>
  <dcterms:created xsi:type="dcterms:W3CDTF">2023-06-07T09:31:33Z</dcterms:created>
  <dcterms:modified xsi:type="dcterms:W3CDTF">2023-06-07T09:55:10Z</dcterms:modified>
</cp:coreProperties>
</file>